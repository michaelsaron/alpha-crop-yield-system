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3"/>
    <p:sldId id="256" r:id="rId4"/>
    <p:sldId id="257" r:id="rId5"/>
    <p:sldId id="258" r:id="rId6"/>
    <p:sldId id="259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65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3" d="100"/>
          <a:sy n="73" d="100"/>
        </p:scale>
        <p:origin x="594" y="66"/>
      </p:cViewPr>
      <p:guideLst>
        <p:guide orient="horz" pos="2183"/>
        <p:guide pos="29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95208" y="3653370"/>
            <a:ext cx="5056047" cy="2836907"/>
            <a:chOff x="0" y="-9525"/>
            <a:chExt cx="10112094" cy="5673813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0112094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750"/>
                </a:lnSpc>
              </a:pPr>
              <a:r>
                <a:rPr lang="en-US" sz="3960" b="1">
                  <a:solidFill>
                    <a:srgbClr val="004651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Team Alpha</a:t>
              </a:r>
              <a:endParaRPr lang="en-US" sz="3960" b="1">
                <a:solidFill>
                  <a:srgbClr val="004651"/>
                </a:solidFill>
                <a:latin typeface="Fira Sans Bold"/>
                <a:ea typeface="Fira Sans Bold"/>
                <a:cs typeface="Fira Sans Bold"/>
                <a:sym typeface="Fira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32361"/>
              <a:ext cx="10112094" cy="4231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65"/>
                </a:lnSpc>
              </a:pPr>
              <a:r>
                <a:rPr lang="en-US" sz="1835" b="1">
                  <a:solidFill>
                    <a:srgbClr val="004651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Team Members</a:t>
              </a:r>
              <a:endParaRPr lang="en-US" sz="1835" b="1">
                <a:solidFill>
                  <a:srgbClr val="004651"/>
                </a:solidFill>
                <a:latin typeface="Fira Sans Bold"/>
                <a:ea typeface="Fira Sans Bold"/>
                <a:cs typeface="Fira Sans Bold"/>
                <a:sym typeface="Fira Sans Bold"/>
              </a:endParaRPr>
            </a:p>
            <a:p>
              <a:pPr marL="299720" lvl="1" indent="-149860">
                <a:lnSpc>
                  <a:spcPts val="1940"/>
                </a:lnSpc>
                <a:buAutoNum type="arabicPeriod"/>
              </a:pPr>
              <a:r>
                <a:rPr lang="en-US" sz="1385">
                  <a:solidFill>
                    <a:srgbClr val="004651"/>
                  </a:solidFill>
                  <a:latin typeface="Fira Sans"/>
                  <a:ea typeface="Fira Sans"/>
                  <a:cs typeface="Fira Sans"/>
                  <a:sym typeface="Fira Sans"/>
                </a:rPr>
                <a:t>Saron Hailemichael</a:t>
              </a:r>
              <a:endParaRPr lang="en-US" sz="1385">
                <a:solidFill>
                  <a:srgbClr val="004651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marL="299720" lvl="1" indent="-149860">
                <a:lnSpc>
                  <a:spcPts val="1940"/>
                </a:lnSpc>
                <a:buAutoNum type="arabicPeriod"/>
              </a:pPr>
              <a:r>
                <a:rPr lang="en-US" sz="1385">
                  <a:solidFill>
                    <a:srgbClr val="004651"/>
                  </a:solidFill>
                  <a:latin typeface="Fira Sans"/>
                  <a:ea typeface="Fira Sans"/>
                  <a:cs typeface="Fira Sans"/>
                  <a:sym typeface="Fira Sans"/>
                </a:rPr>
                <a:t>Abdi Mudesir</a:t>
              </a:r>
              <a:endParaRPr lang="en-US" sz="1385">
                <a:solidFill>
                  <a:srgbClr val="004651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marL="299720" lvl="1" indent="-149860">
                <a:lnSpc>
                  <a:spcPts val="1940"/>
                </a:lnSpc>
                <a:buAutoNum type="arabicPeriod"/>
              </a:pPr>
              <a:r>
                <a:rPr lang="en-US" sz="1385">
                  <a:solidFill>
                    <a:srgbClr val="004651"/>
                  </a:solidFill>
                  <a:latin typeface="Fira Sans"/>
                  <a:ea typeface="Fira Sans"/>
                  <a:cs typeface="Fira Sans"/>
                  <a:sym typeface="Fira Sans"/>
                </a:rPr>
                <a:t>Meftuha Kedir</a:t>
              </a:r>
              <a:endParaRPr lang="en-US" sz="1385">
                <a:solidFill>
                  <a:srgbClr val="004651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marL="299720" lvl="1" indent="-149860">
                <a:lnSpc>
                  <a:spcPts val="1940"/>
                </a:lnSpc>
                <a:buAutoNum type="arabicPeriod"/>
              </a:pPr>
              <a:r>
                <a:rPr lang="en-US" sz="1385">
                  <a:solidFill>
                    <a:srgbClr val="004651"/>
                  </a:solidFill>
                  <a:latin typeface="Fira Sans"/>
                  <a:ea typeface="Fira Sans"/>
                  <a:cs typeface="Fira Sans"/>
                  <a:sym typeface="Fira Sans"/>
                </a:rPr>
                <a:t>Wissam Jemal</a:t>
              </a:r>
              <a:endParaRPr lang="en-US" sz="1385">
                <a:solidFill>
                  <a:srgbClr val="004651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marL="299720" lvl="1" indent="-149860">
                <a:lnSpc>
                  <a:spcPts val="1940"/>
                </a:lnSpc>
                <a:buAutoNum type="arabicPeriod"/>
              </a:pPr>
              <a:r>
                <a:rPr lang="en-US" sz="1385">
                  <a:solidFill>
                    <a:srgbClr val="004651"/>
                  </a:solidFill>
                  <a:latin typeface="Fira Sans"/>
                  <a:ea typeface="Fira Sans"/>
                  <a:cs typeface="Fira Sans"/>
                  <a:sym typeface="Fira Sans"/>
                </a:rPr>
                <a:t>Yedidya Solomon</a:t>
              </a:r>
              <a:endParaRPr lang="en-US" sz="1385">
                <a:solidFill>
                  <a:srgbClr val="004651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marL="299720" lvl="1" indent="-149860">
                <a:lnSpc>
                  <a:spcPts val="1940"/>
                </a:lnSpc>
                <a:buAutoNum type="arabicPeriod"/>
              </a:pPr>
              <a:r>
                <a:rPr lang="en-US" sz="1385">
                  <a:solidFill>
                    <a:srgbClr val="004651"/>
                  </a:solidFill>
                  <a:latin typeface="Fira Sans"/>
                  <a:ea typeface="Fira Sans"/>
                  <a:cs typeface="Fira Sans"/>
                  <a:sym typeface="Fira Sans"/>
                </a:rPr>
                <a:t>Kidist Dagnachaew</a:t>
              </a:r>
              <a:endParaRPr lang="en-US" sz="1385">
                <a:solidFill>
                  <a:srgbClr val="004651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>
                <a:lnSpc>
                  <a:spcPts val="2495"/>
                </a:lnSpc>
              </a:pPr>
              <a:endParaRPr lang="en-US" sz="1385">
                <a:solidFill>
                  <a:srgbClr val="00465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52602" y="1544783"/>
            <a:ext cx="4880689" cy="4226699"/>
            <a:chOff x="0" y="0"/>
            <a:chExt cx="3619627" cy="3134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8081963" y="4690085"/>
            <a:ext cx="3313436" cy="2869451"/>
            <a:chOff x="0" y="0"/>
            <a:chExt cx="3619627" cy="31346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8224228" y="3969895"/>
            <a:ext cx="1514453" cy="1311523"/>
            <a:chOff x="0" y="0"/>
            <a:chExt cx="3619627" cy="31346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158514" y="249070"/>
            <a:ext cx="2533079" cy="2193659"/>
            <a:chOff x="0" y="0"/>
            <a:chExt cx="3619627" cy="31346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9627" cy="3134614"/>
            </a:xfrm>
            <a:custGeom>
              <a:avLst/>
              <a:gdLst/>
              <a:ahLst/>
              <a:cxnLst/>
              <a:rect l="l" t="t" r="r" b="b"/>
              <a:pathLst>
                <a:path w="3619627" h="3134614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85800" y="685800"/>
            <a:ext cx="4693708" cy="390800"/>
            <a:chOff x="0" y="0"/>
            <a:chExt cx="9387417" cy="781600"/>
          </a:xfrm>
        </p:grpSpPr>
        <p:sp>
          <p:nvSpPr>
            <p:cNvPr id="14" name="TextBox 14"/>
            <p:cNvSpPr txBox="1"/>
            <p:nvPr/>
          </p:nvSpPr>
          <p:spPr>
            <a:xfrm>
              <a:off x="1293956" y="104416"/>
              <a:ext cx="8093461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40"/>
                </a:lnSpc>
                <a:spcBef>
                  <a:spcPct val="0"/>
                </a:spcBef>
              </a:pPr>
              <a:r>
                <a:rPr lang="en-US" sz="1600" b="1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Qiyas AI and Data Science Hackathon</a:t>
              </a:r>
              <a:endParaRPr lang="en-US" sz="1600" b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905010" cy="781600"/>
            </a:xfrm>
            <a:custGeom>
              <a:avLst/>
              <a:gdLst/>
              <a:ahLst/>
              <a:cxnLst/>
              <a:rect l="l" t="t" r="r" b="b"/>
              <a:pathLst>
                <a:path w="905010" h="781600">
                  <a:moveTo>
                    <a:pt x="0" y="0"/>
                  </a:moveTo>
                  <a:lnTo>
                    <a:pt x="905010" y="0"/>
                  </a:lnTo>
                  <a:lnTo>
                    <a:pt x="905010" y="781600"/>
                  </a:lnTo>
                  <a:lnTo>
                    <a:pt x="0" y="78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-261790" y="2347413"/>
            <a:ext cx="10820400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Ethiopian Farm Intelligence</a:t>
            </a:r>
            <a:endParaRPr lang="en-US" sz="5400" b="1" dirty="0">
              <a:solidFill>
                <a:srgbClr val="000000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022476" y="5905735"/>
            <a:ext cx="1536134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0"/>
              </a:lnSpc>
              <a:spcBef>
                <a:spcPct val="0"/>
              </a:spcBef>
            </a:pPr>
            <a:r>
              <a:rPr lang="en-US" sz="2160" dirty="0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</a:rPr>
              <a:t>Oct 2026</a:t>
            </a:r>
            <a:endParaRPr lang="en-US" sz="2160" dirty="0">
              <a:solidFill>
                <a:srgbClr val="F4F4F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1201400" cy="1920240"/>
          </a:xfrm>
          <a:prstGeom prst="roundRect">
            <a:avLst/>
          </a:prstGeom>
          <a:solidFill>
            <a:srgbClr val="166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09547" y="1038283"/>
            <a:ext cx="50826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 smtClean="0">
                <a:solidFill>
                  <a:srgbClr val="FFFFFF"/>
                </a:solidFill>
                <a:latin typeface="Aptos"/>
              </a:rPr>
              <a:t>Ethiopian Farm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Intelligence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25564" y="1110996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Aptos"/>
              </a:rPr>
              <a:t>From raw farm + weather + price data to reliable yield prediction and farm-revenue insight.</a:t>
            </a:r>
            <a:endParaRPr sz="14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9443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6546"/>
                </a:solidFill>
                <a:latin typeface="Aptos"/>
              </a:rPr>
              <a:t>15,090</a:t>
            </a:r>
            <a:endParaRPr sz="1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32644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1E1B"/>
                </a:solidFill>
                <a:latin typeface="Aptos"/>
              </a:rPr>
              <a:t>training plots</a:t>
            </a:r>
            <a:endParaRPr sz="10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3465576"/>
            <a:ext cx="21945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  <a:latin typeface="Aptos"/>
              </a:rPr>
              <a:t>5 regions • 5 crop</a:t>
            </a:r>
            <a:r>
              <a:rPr lang="en-US" sz="1000" b="0">
                <a:solidFill>
                  <a:schemeClr val="tx1"/>
                </a:solidFill>
                <a:latin typeface="Aptos"/>
              </a:rPr>
              <a:t>s</a:t>
            </a:r>
            <a:endParaRPr lang="en-US" sz="1000" b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37560" y="278892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9443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6546"/>
                </a:solidFill>
                <a:latin typeface="Aptos"/>
              </a:rPr>
              <a:t>3,750</a:t>
            </a:r>
            <a:endParaRPr sz="1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20440" y="32644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1E1B"/>
                </a:solidFill>
                <a:latin typeface="Aptos"/>
              </a:rPr>
              <a:t>test plots</a:t>
            </a:r>
            <a:endParaRPr sz="10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0440" y="3465576"/>
            <a:ext cx="21945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  <a:latin typeface="Aptos"/>
              </a:rPr>
              <a:t>final competition predictions</a:t>
            </a:r>
            <a:endParaRPr sz="1000" b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35040" y="278892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9443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6546"/>
                </a:solidFill>
                <a:latin typeface="Aptos"/>
              </a:rPr>
              <a:t>3</a:t>
            </a:r>
            <a:endParaRPr sz="1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0" y="32644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1E1B"/>
                </a:solidFill>
                <a:latin typeface="Aptos"/>
              </a:rPr>
              <a:t>data sources</a:t>
            </a:r>
            <a:endParaRPr sz="10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17920" y="3465576"/>
            <a:ext cx="21945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  <a:latin typeface="Aptos"/>
              </a:rPr>
              <a:t>plots • weather • price</a:t>
            </a:r>
            <a:r>
              <a:rPr lang="en-US" sz="1000" b="0">
                <a:solidFill>
                  <a:schemeClr val="tx1"/>
                </a:solidFill>
                <a:latin typeface="Aptos"/>
              </a:rPr>
              <a:t>s</a:t>
            </a:r>
            <a:endParaRPr lang="en-US" sz="1000" b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732520" y="278892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9443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6546"/>
                </a:solidFill>
                <a:latin typeface="Aptos"/>
              </a:rPr>
              <a:t>LightGBM</a:t>
            </a:r>
            <a:endParaRPr sz="1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15400" y="32644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1E1B"/>
                </a:solidFill>
                <a:latin typeface="Aptos"/>
              </a:rPr>
              <a:t>final model</a:t>
            </a:r>
            <a:endParaRPr sz="10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915400" y="3465576"/>
            <a:ext cx="21945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  <a:latin typeface="Aptos"/>
              </a:rPr>
              <a:t>weather included</a:t>
            </a:r>
            <a:endParaRPr sz="1000" b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4069080"/>
            <a:ext cx="251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10855B"/>
                </a:solidFill>
                <a:latin typeface="Aptos"/>
              </a:rPr>
              <a:t>Problem</a:t>
            </a:r>
            <a:endParaRPr sz="2400" b="1" dirty="0">
              <a:solidFill>
                <a:srgbClr val="10855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2083" y="4465618"/>
            <a:ext cx="5212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chemeClr val="tx1"/>
                </a:solidFill>
                <a:latin typeface="Aptos"/>
              </a:rPr>
              <a:t>Predict </a:t>
            </a:r>
            <a:r>
              <a:rPr sz="1400" b="1" dirty="0" err="1">
                <a:solidFill>
                  <a:schemeClr val="tx1"/>
                </a:solidFill>
                <a:latin typeface="Aptos"/>
              </a:rPr>
              <a:t>yield_tons_per_ha</a:t>
            </a:r>
            <a:r>
              <a:rPr sz="1400" b="1" dirty="0">
                <a:solidFill>
                  <a:schemeClr val="tx1"/>
                </a:solidFill>
                <a:latin typeface="Aptos"/>
              </a:rPr>
              <a:t> for Ethiopian smallholder farms while keeping the workflow leakage-safe and explainable.</a:t>
            </a:r>
            <a:endParaRPr sz="1400" b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46520" y="4069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855B"/>
                </a:solidFill>
                <a:latin typeface="Aptos"/>
              </a:rPr>
              <a:t>Our pipeline</a:t>
            </a:r>
            <a:endParaRPr sz="1100" b="1">
              <a:solidFill>
                <a:srgbClr val="10855B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46520" y="4407408"/>
            <a:ext cx="932688" cy="566928"/>
          </a:xfrm>
          <a:prstGeom prst="roundRect">
            <a:avLst/>
          </a:prstGeom>
          <a:solidFill>
            <a:srgbClr val="ECF7F1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590288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66546"/>
                </a:solidFill>
                <a:latin typeface="Aptos"/>
              </a:rPr>
              <a:t>Clean</a:t>
            </a:r>
            <a:endParaRPr sz="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06640" y="45537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64"/>
                </a:solidFill>
                <a:latin typeface="Aptos"/>
              </a:rPr>
              <a:t>→</a:t>
            </a:r>
            <a:endParaRPr sz="1500" b="1">
              <a:solidFill>
                <a:srgbClr val="5B6964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498079" y="4407408"/>
            <a:ext cx="932688" cy="566928"/>
          </a:xfrm>
          <a:prstGeom prst="roundRect">
            <a:avLst/>
          </a:prstGeom>
          <a:solidFill>
            <a:srgbClr val="ECF7F1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4590288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66546"/>
                </a:solidFill>
                <a:latin typeface="Aptos"/>
              </a:rPr>
              <a:t>Join weather</a:t>
            </a:r>
            <a:endParaRPr sz="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58200" y="45537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64"/>
                </a:solidFill>
                <a:latin typeface="Aptos"/>
              </a:rPr>
              <a:t>→</a:t>
            </a:r>
            <a:endParaRPr sz="1500" b="1">
              <a:solidFill>
                <a:srgbClr val="5B6964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549640" y="4407408"/>
            <a:ext cx="932688" cy="566928"/>
          </a:xfrm>
          <a:prstGeom prst="roundRect">
            <a:avLst/>
          </a:prstGeom>
          <a:solidFill>
            <a:srgbClr val="ECF7F1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4590288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66546"/>
                </a:solidFill>
                <a:latin typeface="Aptos"/>
              </a:rPr>
              <a:t>Analyze</a:t>
            </a:r>
            <a:endParaRPr sz="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09760" y="45537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64"/>
                </a:solidFill>
                <a:latin typeface="Aptos"/>
              </a:rPr>
              <a:t>→</a:t>
            </a:r>
            <a:endParaRPr sz="1500" b="1">
              <a:solidFill>
                <a:srgbClr val="5B6964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601200" y="4407408"/>
            <a:ext cx="932688" cy="566928"/>
          </a:xfrm>
          <a:prstGeom prst="roundRect">
            <a:avLst/>
          </a:prstGeom>
          <a:solidFill>
            <a:srgbClr val="ECF7F1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4590288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66546"/>
                </a:solidFill>
                <a:latin typeface="Aptos"/>
              </a:rPr>
              <a:t>Model</a:t>
            </a:r>
            <a:endParaRPr sz="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61320" y="45537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B6964"/>
                </a:solidFill>
                <a:latin typeface="Aptos"/>
              </a:rPr>
              <a:t>→</a:t>
            </a:r>
            <a:endParaRPr sz="1500" b="1">
              <a:solidFill>
                <a:srgbClr val="5B6964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652760" y="4407408"/>
            <a:ext cx="932688" cy="566928"/>
          </a:xfrm>
          <a:prstGeom prst="roundRect">
            <a:avLst/>
          </a:prstGeom>
          <a:solidFill>
            <a:srgbClr val="ECF7F1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0" y="4590288"/>
            <a:ext cx="841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66546"/>
                </a:solidFill>
                <a:latin typeface="Aptos"/>
              </a:rPr>
              <a:t>Predict</a:t>
            </a:r>
            <a:endParaRPr sz="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46520" y="5230368"/>
            <a:ext cx="46634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tx1"/>
                </a:solidFill>
                <a:latin typeface="Aptos"/>
              </a:rPr>
              <a:t>Price is excluded from model features and used only after prediction for revenue.</a:t>
            </a:r>
            <a:endParaRPr sz="14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4360" y="230826"/>
            <a:ext cx="4114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 smtClean="0">
                <a:solidFill>
                  <a:srgbClr val="10855B"/>
                </a:solidFill>
                <a:latin typeface="Aptos"/>
              </a:rPr>
              <a:t>PROBLEM AND DATASET</a:t>
            </a:r>
            <a:endParaRPr lang="en-US" sz="1400" b="1" dirty="0">
              <a:solidFill>
                <a:srgbClr val="10855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0855B"/>
                </a:solidFill>
                <a:latin typeface="Aptos"/>
              </a:rPr>
              <a:t>CLEANING &amp; INTEGRATION</a:t>
            </a:r>
            <a:endParaRPr sz="1400" b="1" dirty="0">
              <a:solidFill>
                <a:srgbClr val="10855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E1B"/>
                </a:solidFill>
                <a:latin typeface="Aptos"/>
              </a:rPr>
              <a:t>Turning messy sources into one modeling table</a:t>
            </a:r>
            <a:endParaRPr sz="26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tx1"/>
                </a:solidFill>
                <a:latin typeface="Aptos"/>
              </a:rPr>
              <a:t>Standardize → aggregate growing-season weather → left join → audit</a:t>
            </a:r>
            <a:endParaRPr sz="1400" b="0" dirty="0">
              <a:solidFill>
                <a:schemeClr val="tx1"/>
              </a:solidFill>
              <a:latin typeface="Aptos"/>
            </a:endParaRPr>
          </a:p>
        </p:txBody>
      </p:sp>
      <p:pic>
        <p:nvPicPr>
          <p:cNvPr id="6" name="Picture 5" descr="join_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27632"/>
            <a:ext cx="562356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37960" y="169164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4708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6546"/>
                </a:solidFill>
                <a:latin typeface="Aptos"/>
              </a:rPr>
              <a:t>100%</a:t>
            </a:r>
            <a:endParaRPr sz="1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20840" y="216712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1E1B"/>
                </a:solidFill>
                <a:latin typeface="Aptos"/>
              </a:rPr>
              <a:t>weather match rate</a:t>
            </a:r>
            <a:endParaRPr sz="10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20840" y="2368296"/>
            <a:ext cx="19659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  <a:latin typeface="Aptos"/>
              </a:rPr>
              <a:t>train + test</a:t>
            </a:r>
            <a:endParaRPr sz="1000" b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052560" y="169164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184708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6546"/>
                </a:solidFill>
                <a:latin typeface="Aptos"/>
              </a:rPr>
              <a:t>100%</a:t>
            </a:r>
            <a:endParaRPr sz="1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235440" y="216712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1E1B"/>
                </a:solidFill>
                <a:latin typeface="Aptos"/>
              </a:rPr>
              <a:t>price match rate</a:t>
            </a:r>
            <a:endParaRPr sz="10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35440" y="2368296"/>
            <a:ext cx="19659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  <a:latin typeface="Aptos"/>
              </a:rPr>
              <a:t>analysis/revenue only</a:t>
            </a:r>
            <a:endParaRPr sz="1000" b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37960" y="27889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9443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6546"/>
                </a:solidFill>
                <a:latin typeface="Aptos"/>
              </a:rPr>
              <a:t>2,925</a:t>
            </a:r>
            <a:endParaRPr sz="1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20840" y="326440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1E1B"/>
                </a:solidFill>
                <a:latin typeface="Aptos"/>
              </a:rPr>
              <a:t>train incomplete</a:t>
            </a:r>
            <a:endParaRPr sz="10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20840" y="3465576"/>
            <a:ext cx="19659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  <a:latin typeface="Aptos"/>
              </a:rPr>
              <a:t>weather windows</a:t>
            </a:r>
            <a:endParaRPr sz="1000" b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052560" y="27889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9443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6546"/>
                </a:solidFill>
                <a:latin typeface="Aptos"/>
              </a:rPr>
              <a:t>748</a:t>
            </a:r>
            <a:endParaRPr sz="1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35440" y="326440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1E1B"/>
                </a:solidFill>
                <a:latin typeface="Aptos"/>
              </a:rPr>
              <a:t>test incomplete</a:t>
            </a:r>
            <a:endParaRPr sz="10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5440" y="3465576"/>
            <a:ext cx="19659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  <a:latin typeface="Aptos"/>
              </a:rPr>
              <a:t>weather windows</a:t>
            </a:r>
            <a:endParaRPr sz="1000" b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37960" y="3977639"/>
            <a:ext cx="4846320" cy="1417320"/>
          </a:xfrm>
          <a:prstGeom prst="roundRect">
            <a:avLst/>
          </a:prstGeom>
          <a:solidFill>
            <a:srgbClr val="ECF7F1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1879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6546"/>
                </a:solidFill>
                <a:latin typeface="Aptos"/>
              </a:rPr>
              <a:t>Growing-season rule</a:t>
            </a:r>
            <a:endParaRPr sz="12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6560" y="4526280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1B"/>
                </a:solidFill>
                <a:latin typeface="Aptos"/>
              </a:rPr>
              <a:t>Planting month + following 3 months → seasonal rainfall, mean temperature and extreme-heat days.</a:t>
            </a:r>
            <a:endParaRPr sz="1400" b="0">
              <a:solidFill>
                <a:srgbClr val="141E1B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37960" y="5650992"/>
            <a:ext cx="4846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ptos"/>
              </a:rPr>
              <a:t>Rows were preserved after joins; integrity checks protect IDs, target separation and leakage rules.</a:t>
            </a:r>
            <a:endParaRPr sz="1400" b="0">
              <a:solidFill>
                <a:schemeClr val="tx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855B"/>
                </a:solidFill>
                <a:latin typeface="Aptos"/>
              </a:rPr>
              <a:t> </a:t>
            </a:r>
            <a:r>
              <a:rPr sz="1400" b="1">
                <a:solidFill>
                  <a:srgbClr val="10855B"/>
                </a:solidFill>
                <a:latin typeface="Aptos"/>
              </a:rPr>
              <a:t>WHAT THE DATA SAYS</a:t>
            </a:r>
            <a:endParaRPr sz="1400" b="1">
              <a:solidFill>
                <a:srgbClr val="10855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E1B"/>
                </a:solidFill>
                <a:latin typeface="Aptos"/>
              </a:rPr>
              <a:t>Two patterns that matter for yield</a:t>
            </a:r>
            <a:endParaRPr sz="26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ptos"/>
              </a:rPr>
              <a:t>Region × crop differences are large, and growing-season temperature response varies by crop</a:t>
            </a:r>
            <a:r>
              <a:rPr sz="1100" b="0">
                <a:solidFill>
                  <a:srgbClr val="5B6964"/>
                </a:solidFill>
                <a:latin typeface="Aptos"/>
              </a:rPr>
              <a:t>.</a:t>
            </a:r>
            <a:endParaRPr sz="1100" b="0">
              <a:solidFill>
                <a:srgbClr val="5B6964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532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04_region_crop_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83080"/>
            <a:ext cx="512064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4132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855B"/>
                </a:solidFill>
                <a:latin typeface="Aptos"/>
              </a:rPr>
              <a:t>Finding 1</a:t>
            </a:r>
            <a:endParaRPr sz="1000" b="1">
              <a:solidFill>
                <a:srgbClr val="10855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5394960"/>
            <a:ext cx="41605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1B"/>
                </a:solidFill>
                <a:latin typeface="Aptos"/>
              </a:rPr>
              <a:t>Yield differs strongly across region</a:t>
            </a:r>
            <a:r>
              <a:rPr lang="en-US" sz="1200" b="1">
                <a:solidFill>
                  <a:srgbClr val="141E1B"/>
                </a:solidFill>
                <a:latin typeface="Aptos"/>
              </a:rPr>
              <a:t> </a:t>
            </a:r>
            <a:r>
              <a:rPr sz="1200" b="1">
                <a:solidFill>
                  <a:srgbClr val="141E1B"/>
                </a:solidFill>
                <a:latin typeface="Aptos"/>
              </a:rPr>
              <a:t>crop combinations.</a:t>
            </a:r>
            <a:endParaRPr sz="12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36208" y="155448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07_yield_vs_season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47088"/>
            <a:ext cx="4983480" cy="3246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6520" y="54132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855B"/>
                </a:solidFill>
                <a:latin typeface="Aptos"/>
              </a:rPr>
              <a:t>Finding 2</a:t>
            </a:r>
            <a:endParaRPr sz="1000" b="1">
              <a:solidFill>
                <a:srgbClr val="10855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23760" y="5285232"/>
            <a:ext cx="40690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1B"/>
                </a:solidFill>
                <a:latin typeface="Aptos"/>
              </a:rPr>
              <a:t>Temperature</a:t>
            </a:r>
            <a:r>
              <a:rPr lang="en-US" sz="1200" b="1">
                <a:solidFill>
                  <a:srgbClr val="141E1B"/>
                </a:solidFill>
                <a:latin typeface="Aptos"/>
              </a:rPr>
              <a:t> </a:t>
            </a:r>
            <a:r>
              <a:rPr sz="1200" b="1">
                <a:solidFill>
                  <a:srgbClr val="141E1B"/>
                </a:solidFill>
                <a:latin typeface="Aptos"/>
              </a:rPr>
              <a:t>yield patterns differ by crop; one climate response does not fit every crop.</a:t>
            </a:r>
            <a:endParaRPr sz="12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6144768"/>
            <a:ext cx="107899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ptos"/>
              </a:rPr>
              <a:t>Agronomic analysis also examined fertilizer, altitude, planting month and distance to market; distance had almost no linear relationship with yield (r ≈ 0.005)</a:t>
            </a:r>
            <a:r>
              <a:rPr sz="1000" b="0">
                <a:solidFill>
                  <a:srgbClr val="5B6964"/>
                </a:solidFill>
                <a:latin typeface="Aptos"/>
              </a:rPr>
              <a:t>.</a:t>
            </a:r>
            <a:endParaRPr sz="1000" b="0">
              <a:solidFill>
                <a:srgbClr val="5B69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855B"/>
                </a:solidFill>
                <a:latin typeface="Aptos"/>
              </a:rPr>
              <a:t>MODELING &amp; EVALUATION</a:t>
            </a:r>
            <a:endParaRPr sz="1400" b="1">
              <a:solidFill>
                <a:srgbClr val="10855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E1B"/>
                </a:solidFill>
                <a:latin typeface="Aptos"/>
              </a:rPr>
              <a:t>LightGBM gave the strongest validation performance</a:t>
            </a:r>
            <a:endParaRPr sz="26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ptos"/>
              </a:rPr>
              <a:t>Same split and features for fair comparison; final model checked with CV, time split and weather ablation.</a:t>
            </a:r>
            <a:endParaRPr sz="1400" b="0">
              <a:solidFill>
                <a:schemeClr val="tx1"/>
              </a:solidFill>
              <a:latin typeface="Aptos"/>
            </a:endParaRPr>
          </a:p>
        </p:txBody>
      </p:sp>
      <p:pic>
        <p:nvPicPr>
          <p:cNvPr id="6" name="Picture 5" descr="fig10_model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5989320" cy="39776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03720" y="1664208"/>
            <a:ext cx="2103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8196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6546"/>
                </a:solidFill>
                <a:latin typeface="Aptos"/>
              </a:rPr>
              <a:t>0.459</a:t>
            </a:r>
            <a:endParaRPr sz="1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86600" y="21396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1E1B"/>
                </a:solidFill>
                <a:latin typeface="Aptos"/>
              </a:rPr>
              <a:t>RMSE</a:t>
            </a:r>
            <a:endParaRPr sz="10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86600" y="2340864"/>
            <a:ext cx="17373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  <a:latin typeface="Aptos"/>
              </a:rPr>
              <a:t>tons/ha</a:t>
            </a:r>
            <a:endParaRPr sz="1000" b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4000" y="1664208"/>
            <a:ext cx="2103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8196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6546"/>
                </a:solidFill>
                <a:latin typeface="Aptos"/>
              </a:rPr>
              <a:t>0.336</a:t>
            </a:r>
            <a:endParaRPr sz="1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26880" y="21396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1E1B"/>
                </a:solidFill>
                <a:latin typeface="Aptos"/>
              </a:rPr>
              <a:t>MAE</a:t>
            </a:r>
            <a:endParaRPr sz="10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26880" y="2340864"/>
            <a:ext cx="17373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  <a:latin typeface="Aptos"/>
              </a:rPr>
              <a:t>tons/ha</a:t>
            </a:r>
            <a:endParaRPr sz="1000" b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03720" y="2761488"/>
            <a:ext cx="2103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9169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6546"/>
                </a:solidFill>
                <a:latin typeface="Aptos"/>
              </a:rPr>
              <a:t>0.894</a:t>
            </a:r>
            <a:endParaRPr sz="1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86600" y="32369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1E1B"/>
                </a:solidFill>
                <a:latin typeface="Aptos"/>
              </a:rPr>
              <a:t>R²</a:t>
            </a:r>
            <a:endParaRPr sz="10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86600" y="3438144"/>
            <a:ext cx="17373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  <a:latin typeface="Aptos"/>
              </a:rPr>
              <a:t>validation</a:t>
            </a:r>
            <a:endParaRPr sz="1000" b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44000" y="2761488"/>
            <a:ext cx="2103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9169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6546"/>
                </a:solidFill>
                <a:latin typeface="Aptos"/>
              </a:rPr>
              <a:t>0.469 ± 0.011</a:t>
            </a:r>
            <a:endParaRPr sz="19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26880" y="32369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1E1B"/>
                </a:solidFill>
                <a:latin typeface="Aptos"/>
              </a:rPr>
              <a:t>5-fold CV</a:t>
            </a:r>
            <a:endParaRPr sz="10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26880" y="3438144"/>
            <a:ext cx="17373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  <a:latin typeface="Aptos"/>
              </a:rPr>
              <a:t>RMSE</a:t>
            </a:r>
            <a:endParaRPr sz="1000" b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03720" y="3931920"/>
            <a:ext cx="4343400" cy="1298448"/>
          </a:xfrm>
          <a:prstGeom prst="roundRect">
            <a:avLst/>
          </a:prstGeom>
          <a:solidFill>
            <a:srgbClr val="ECF7F1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416052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6546"/>
                </a:solidFill>
                <a:latin typeface="Aptos"/>
              </a:rPr>
              <a:t>Weather was worth the join</a:t>
            </a:r>
            <a:endParaRPr sz="13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50608" y="452628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1B"/>
                </a:solidFill>
                <a:latin typeface="Aptos"/>
              </a:rPr>
              <a:t>RMSE improved from 0.4899 → 0.4593 t/ha, about a 6.2% reduction.</a:t>
            </a:r>
            <a:endParaRPr sz="1300" b="0">
              <a:solidFill>
                <a:srgbClr val="141E1B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03720" y="5532120"/>
            <a:ext cx="4343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ptos"/>
              </a:rPr>
              <a:t>Out-of-time 2024 RMSE: 0.4845 t/ha</a:t>
            </a:r>
            <a:endParaRPr sz="1400" b="0">
              <a:solidFill>
                <a:schemeClr val="tx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855B"/>
                </a:solidFill>
                <a:latin typeface="Aptos"/>
              </a:rPr>
              <a:t>ERROR → DECISION → DEMO</a:t>
            </a:r>
            <a:endParaRPr sz="1400" b="1">
              <a:solidFill>
                <a:srgbClr val="10855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E1B"/>
                </a:solidFill>
                <a:latin typeface="Aptos"/>
              </a:rPr>
              <a:t>What the model gets wrong  and how we use it</a:t>
            </a:r>
            <a:endParaRPr sz="2600" b="1">
              <a:solidFill>
                <a:srgbClr val="141E1B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ptos"/>
              </a:rPr>
              <a:t>We inspected residuals, tested a response to large errors, then packaged the model into a Streamlit decision demo</a:t>
            </a:r>
            <a:r>
              <a:rPr sz="1100" b="0">
                <a:solidFill>
                  <a:srgbClr val="5B6964"/>
                </a:solidFill>
                <a:latin typeface="Aptos"/>
              </a:rPr>
              <a:t>.</a:t>
            </a:r>
            <a:endParaRPr sz="1100" b="0">
              <a:solidFill>
                <a:srgbClr val="5B6964"/>
              </a:solidFill>
              <a:latin typeface="Aptos"/>
            </a:endParaRPr>
          </a:p>
        </p:txBody>
      </p:sp>
      <p:pic>
        <p:nvPicPr>
          <p:cNvPr id="6" name="Picture 5" descr="fig11_predicted_vs_actual_residual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5577840" cy="3337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46520" y="1600200"/>
            <a:ext cx="5120640" cy="1170432"/>
          </a:xfrm>
          <a:prstGeom prst="roundRect">
            <a:avLst/>
          </a:prstGeom>
          <a:solidFill>
            <a:srgbClr val="ECF7F1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10512"/>
            <a:ext cx="210312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6546"/>
                </a:solidFill>
                <a:latin typeface="Aptos"/>
              </a:rPr>
              <a:t>D8 Response to errors</a:t>
            </a:r>
            <a:endParaRPr sz="1100" b="1">
              <a:solidFill>
                <a:srgbClr val="166546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212140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1B"/>
                </a:solidFill>
                <a:latin typeface="Aptos"/>
              </a:rPr>
              <a:t>0.5–99.5% prediction clipping worsened RMSE (0.4593 → 0.4620), so we rejected it.</a:t>
            </a:r>
            <a:endParaRPr sz="1200" b="0">
              <a:solidFill>
                <a:srgbClr val="141E1B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46520" y="297180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182112"/>
            <a:ext cx="219456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855B"/>
                </a:solidFill>
                <a:latin typeface="Aptos"/>
              </a:rPr>
              <a:t>Plain</a:t>
            </a:r>
            <a:r>
              <a:rPr lang="en-US" sz="1100" b="1">
                <a:solidFill>
                  <a:srgbClr val="10855B"/>
                </a:solidFill>
                <a:latin typeface="Aptos"/>
              </a:rPr>
              <a:t> </a:t>
            </a:r>
            <a:r>
              <a:rPr sz="1100" b="1">
                <a:solidFill>
                  <a:srgbClr val="10855B"/>
                </a:solidFill>
                <a:latin typeface="Aptos"/>
              </a:rPr>
              <a:t>language impact</a:t>
            </a:r>
            <a:endParaRPr sz="1100" b="1">
              <a:solidFill>
                <a:srgbClr val="10855B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75120" y="3502152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1B"/>
                </a:solidFill>
                <a:latin typeface="Aptos"/>
              </a:rPr>
              <a:t>RMSE ≈ 16.6% of mean yield • MAE ≈ 12.1% • approximate MAE value ≈ 15,537 birr/ha.</a:t>
            </a:r>
            <a:endParaRPr sz="1200" b="0">
              <a:solidFill>
                <a:srgbClr val="141E1B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46520" y="4498848"/>
            <a:ext cx="5120640" cy="1097280"/>
          </a:xfrm>
          <a:prstGeom prst="roundRect">
            <a:avLst/>
          </a:prstGeom>
          <a:solidFill>
            <a:srgbClr val="166546"/>
          </a:solidFill>
          <a:ln>
            <a:solidFill>
              <a:srgbClr val="E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47091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EED4"/>
                </a:solidFill>
                <a:latin typeface="Aptos"/>
              </a:rPr>
              <a:t>LIVE DEMO</a:t>
            </a:r>
            <a:endParaRPr sz="1000" b="1">
              <a:solidFill>
                <a:srgbClr val="B9EED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93535" y="4952365"/>
            <a:ext cx="4526280" cy="469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Farm inputs → automatic weather + price lookup → predicted yield → estimated revenue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46520" y="5879592"/>
            <a:ext cx="50292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  <a:latin typeface="Aptos"/>
              </a:rPr>
              <a:t>Next: deploy the Streamlit app and add its public URL to README + this slide.</a:t>
            </a:r>
            <a:endParaRPr sz="1400" b="0">
              <a:solidFill>
                <a:schemeClr val="tx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6"/>
          <p:cNvSpPr txBox="1"/>
          <p:nvPr/>
        </p:nvSpPr>
        <p:spPr>
          <a:xfrm>
            <a:off x="286850" y="2791765"/>
            <a:ext cx="10820400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8000" b="1" dirty="0" smtClean="0">
                <a:solidFill>
                  <a:srgbClr val="16654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Thank You</a:t>
            </a:r>
            <a:endParaRPr lang="en-US" sz="8000" b="1" dirty="0">
              <a:solidFill>
                <a:srgbClr val="166546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2622</Words>
  <Application>WPS Presentation</Application>
  <PresentationFormat>Widescreen</PresentationFormat>
  <Paragraphs>183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Arial</vt:lpstr>
      <vt:lpstr>Fira Sans Bold</vt:lpstr>
      <vt:lpstr>Segoe Print</vt:lpstr>
      <vt:lpstr>Fira Sans</vt:lpstr>
      <vt:lpstr>Fira Sans Medium</vt:lpstr>
      <vt:lpstr>Aptos</vt:lpstr>
      <vt:lpstr>Segoe UI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Lenevo</dc:creator>
  <dc:description>generated using python-pptx</dc:description>
  <cp:lastModifiedBy>j</cp:lastModifiedBy>
  <cp:revision>6</cp:revision>
  <dcterms:created xsi:type="dcterms:W3CDTF">2013-01-27T09:14:00Z</dcterms:created>
  <dcterms:modified xsi:type="dcterms:W3CDTF">2026-10-06T13:26:30Z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FD1421810492462D80EC75A9407498CE_13</vt:lpwstr>
  </property>
  <property fmtid="{D5CDD505-2E9C-101B-9397-08002B2CF9AE}" pid="3" name="KSOProductBuildVer">
    <vt:lpwstr>1033-12.1.0.28485</vt:lpwstr>
  </property>
</Properties>
</file>